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1" r:id="rId4"/>
    <p:sldId id="259" r:id="rId5"/>
    <p:sldId id="258" r:id="rId6"/>
    <p:sldId id="260" r:id="rId7"/>
    <p:sldId id="268" r:id="rId8"/>
    <p:sldId id="267" r:id="rId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1210"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6" name="Holder 6"/>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3067049" cy="6857999"/>
          </a:xfrm>
          <a:prstGeom prst="rect">
            <a:avLst/>
          </a:prstGeom>
        </p:spPr>
      </p:pic>
      <p:pic>
        <p:nvPicPr>
          <p:cNvPr id="17" name="bg object 17"/>
          <p:cNvPicPr/>
          <p:nvPr/>
        </p:nvPicPr>
        <p:blipFill>
          <a:blip r:embed="rId3" cstate="print"/>
          <a:stretch>
            <a:fillRect/>
          </a:stretch>
        </p:blipFill>
        <p:spPr>
          <a:xfrm>
            <a:off x="1524000" y="1343025"/>
            <a:ext cx="1476375" cy="1381125"/>
          </a:xfrm>
          <a:prstGeom prst="rect">
            <a:avLst/>
          </a:prstGeom>
        </p:spPr>
      </p:pic>
      <p:pic>
        <p:nvPicPr>
          <p:cNvPr id="18" name="bg object 18"/>
          <p:cNvPicPr/>
          <p:nvPr/>
        </p:nvPicPr>
        <p:blipFill>
          <a:blip r:embed="rId4" cstate="print"/>
          <a:stretch>
            <a:fillRect/>
          </a:stretch>
        </p:blipFill>
        <p:spPr>
          <a:xfrm>
            <a:off x="380999" y="4495800"/>
            <a:ext cx="1476375" cy="1838325"/>
          </a:xfrm>
          <a:prstGeom prst="rect">
            <a:avLst/>
          </a:prstGeom>
        </p:spPr>
      </p:pic>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6" name="Holder 6"/>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7" name="Holder 7"/>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5" name="Holder 5"/>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4" name="Holder 4"/>
          <p:cNvSpPr>
            <a:spLocks noGrp="1"/>
          </p:cNvSpPr>
          <p:nvPr>
            <p:ph type="sldNum" sz="quarter" idx="7"/>
          </p:nvPr>
        </p:nvSpPr>
        <p:spPr/>
        <p:txBody>
          <a:bodyPr lIns="0" tIns="0" rIns="0" bIns="0"/>
          <a:lstStyle>
            <a:lvl1pPr>
              <a:defRPr sz="1800" b="0" i="0">
                <a:solidFill>
                  <a:srgbClr val="888888"/>
                </a:solidFill>
                <a:latin typeface="Arial MT"/>
                <a:cs typeface="Arial MT"/>
              </a:defRPr>
            </a:lvl1pPr>
          </a:lstStyle>
          <a:p>
            <a:pPr marL="38100">
              <a:lnSpc>
                <a:spcPts val="209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2" name="Holder 2"/>
          <p:cNvSpPr>
            <a:spLocks noGrp="1"/>
          </p:cNvSpPr>
          <p:nvPr>
            <p:ph type="title"/>
          </p:nvPr>
        </p:nvSpPr>
        <p:spPr>
          <a:xfrm>
            <a:off x="2543175" y="405828"/>
            <a:ext cx="4691380" cy="725487"/>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6/29/2026</a:t>
            </a:fld>
            <a:endParaRPr lang="en-US"/>
          </a:p>
        </p:txBody>
      </p:sp>
      <p:sp>
        <p:nvSpPr>
          <p:cNvPr id="6" name="Holder 6"/>
          <p:cNvSpPr>
            <a:spLocks noGrp="1"/>
          </p:cNvSpPr>
          <p:nvPr>
            <p:ph type="sldNum" sz="quarter" idx="7"/>
          </p:nvPr>
        </p:nvSpPr>
        <p:spPr>
          <a:xfrm>
            <a:off x="8529319" y="6386289"/>
            <a:ext cx="216534" cy="281304"/>
          </a:xfrm>
          <a:prstGeom prst="rect">
            <a:avLst/>
          </a:prstGeom>
        </p:spPr>
        <p:txBody>
          <a:bodyPr wrap="square" lIns="0" tIns="0" rIns="0" bIns="0">
            <a:spAutoFit/>
          </a:bodyPr>
          <a:lstStyle>
            <a:lvl1pPr>
              <a:defRPr sz="1800" b="0" i="0">
                <a:solidFill>
                  <a:srgbClr val="888888"/>
                </a:solidFill>
                <a:latin typeface="Arial MT"/>
                <a:cs typeface="Arial MT"/>
              </a:defRPr>
            </a:lvl1pPr>
          </a:lstStyle>
          <a:p>
            <a:pPr marL="38100">
              <a:lnSpc>
                <a:spcPts val="209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2090"/>
              </a:lnSpc>
            </a:pPr>
            <a:fld id="{81D60167-4931-47E6-BA6A-407CBD079E47}" type="slidenum">
              <a:rPr spc="-50" dirty="0"/>
              <a:t>1</a:t>
            </a:fld>
            <a:endParaRPr spc="-50" dirty="0"/>
          </a:p>
        </p:txBody>
      </p:sp>
      <p:sp>
        <p:nvSpPr>
          <p:cNvPr id="3" name="object 3"/>
          <p:cNvSpPr txBox="1"/>
          <p:nvPr/>
        </p:nvSpPr>
        <p:spPr>
          <a:xfrm>
            <a:off x="3205098" y="3581400"/>
            <a:ext cx="5540755" cy="2837315"/>
          </a:xfrm>
          <a:prstGeom prst="rect">
            <a:avLst/>
          </a:prstGeom>
        </p:spPr>
        <p:txBody>
          <a:bodyPr vert="horz" wrap="square" lIns="0" tIns="15875" rIns="0" bIns="0" rtlCol="0">
            <a:spAutoFit/>
          </a:bodyPr>
          <a:lstStyle/>
          <a:p>
            <a:pPr marL="12700">
              <a:lnSpc>
                <a:spcPct val="100000"/>
              </a:lnSpc>
              <a:spcBef>
                <a:spcPts val="125"/>
              </a:spcBef>
            </a:pPr>
            <a:r>
              <a:rPr sz="2000" b="1" spc="-10" dirty="0">
                <a:latin typeface="Times New Roman"/>
                <a:cs typeface="Times New Roman"/>
              </a:rPr>
              <a:t>Date</a:t>
            </a:r>
            <a:r>
              <a:rPr lang="en-US" sz="2000" b="1" spc="-10" dirty="0">
                <a:latin typeface="Times New Roman"/>
                <a:cs typeface="Times New Roman"/>
              </a:rPr>
              <a:t> </a:t>
            </a:r>
            <a:r>
              <a:rPr sz="2000" b="1" spc="-10" dirty="0">
                <a:latin typeface="Times New Roman"/>
                <a:cs typeface="Times New Roman"/>
              </a:rPr>
              <a:t>:</a:t>
            </a:r>
            <a:r>
              <a:rPr lang="en-US" sz="2000" b="1" spc="-10" dirty="0">
                <a:latin typeface="Times New Roman"/>
                <a:cs typeface="Times New Roman"/>
              </a:rPr>
              <a:t> </a:t>
            </a:r>
            <a:r>
              <a:rPr lang="en-US" sz="2000" spc="-10" dirty="0">
                <a:latin typeface="Times New Roman"/>
                <a:cs typeface="Times New Roman"/>
              </a:rPr>
              <a:t>25.06.2026</a:t>
            </a:r>
            <a:endParaRPr lang="en-IN" sz="2000" spc="-10" dirty="0">
              <a:latin typeface="Times New Roman"/>
              <a:cs typeface="Times New Roman"/>
            </a:endParaRPr>
          </a:p>
          <a:p>
            <a:pPr marL="12700">
              <a:lnSpc>
                <a:spcPct val="100000"/>
              </a:lnSpc>
              <a:spcBef>
                <a:spcPts val="125"/>
              </a:spcBef>
            </a:pPr>
            <a:endParaRPr lang="en-IN" sz="2000" b="1" spc="-10" dirty="0">
              <a:latin typeface="Times New Roman"/>
              <a:cs typeface="Times New Roman"/>
            </a:endParaRPr>
          </a:p>
          <a:p>
            <a:pPr marL="12700">
              <a:lnSpc>
                <a:spcPct val="100000"/>
              </a:lnSpc>
              <a:spcBef>
                <a:spcPts val="125"/>
              </a:spcBef>
            </a:pPr>
            <a:endParaRPr lang="en-IN" sz="2000" b="1" spc="-10" dirty="0">
              <a:latin typeface="Times New Roman"/>
              <a:cs typeface="Times New Roman"/>
            </a:endParaRPr>
          </a:p>
          <a:p>
            <a:pPr marL="12700">
              <a:lnSpc>
                <a:spcPct val="100000"/>
              </a:lnSpc>
              <a:spcBef>
                <a:spcPts val="125"/>
              </a:spcBef>
            </a:pPr>
            <a:r>
              <a:rPr lang="en-IN" sz="2000" b="1" spc="-10" dirty="0">
                <a:latin typeface="Times New Roman"/>
                <a:cs typeface="Times New Roman"/>
              </a:rPr>
              <a:t>Team Number : </a:t>
            </a:r>
            <a:r>
              <a:rPr lang="en-IN" sz="2000" spc="-10" dirty="0">
                <a:latin typeface="Times New Roman"/>
                <a:cs typeface="Times New Roman"/>
              </a:rPr>
              <a:t>D01</a:t>
            </a:r>
          </a:p>
          <a:p>
            <a:pPr marL="12700">
              <a:lnSpc>
                <a:spcPct val="100000"/>
              </a:lnSpc>
              <a:spcBef>
                <a:spcPts val="125"/>
              </a:spcBef>
            </a:pPr>
            <a:r>
              <a:rPr lang="en-IN" sz="2000" b="1" spc="-10" dirty="0">
                <a:latin typeface="Times New Roman"/>
                <a:cs typeface="Times New Roman"/>
              </a:rPr>
              <a:t>Team Guide : </a:t>
            </a:r>
            <a:r>
              <a:rPr lang="en-IN" sz="2000" spc="-10" dirty="0">
                <a:latin typeface="Times New Roman"/>
                <a:cs typeface="Times New Roman"/>
              </a:rPr>
              <a:t>Mr. </a:t>
            </a:r>
            <a:r>
              <a:rPr lang="en-IN" sz="2000" spc="-10" dirty="0" err="1">
                <a:latin typeface="Times New Roman"/>
                <a:cs typeface="Times New Roman"/>
              </a:rPr>
              <a:t>B.Bizu</a:t>
            </a:r>
            <a:r>
              <a:rPr lang="en-IN" sz="2000" spc="-10" dirty="0">
                <a:latin typeface="Times New Roman"/>
                <a:cs typeface="Times New Roman"/>
              </a:rPr>
              <a:t> AP/CSE</a:t>
            </a:r>
            <a:endParaRPr sz="2000" dirty="0">
              <a:latin typeface="Times New Roman"/>
              <a:cs typeface="Times New Roman"/>
            </a:endParaRPr>
          </a:p>
          <a:p>
            <a:pPr marL="13970">
              <a:lnSpc>
                <a:spcPct val="100000"/>
              </a:lnSpc>
              <a:spcBef>
                <a:spcPts val="5"/>
              </a:spcBef>
            </a:pPr>
            <a:r>
              <a:rPr sz="2000" b="1" dirty="0">
                <a:latin typeface="Times New Roman"/>
                <a:cs typeface="Times New Roman"/>
              </a:rPr>
              <a:t>Team</a:t>
            </a:r>
            <a:r>
              <a:rPr sz="2000" b="1" spc="-20" dirty="0">
                <a:latin typeface="Times New Roman"/>
                <a:cs typeface="Times New Roman"/>
              </a:rPr>
              <a:t> </a:t>
            </a:r>
            <a:r>
              <a:rPr sz="2000" b="1" spc="-10" dirty="0">
                <a:latin typeface="Times New Roman"/>
                <a:cs typeface="Times New Roman"/>
              </a:rPr>
              <a:t>Members</a:t>
            </a:r>
            <a:r>
              <a:rPr lang="en-US" sz="2000" b="1" spc="-10" dirty="0">
                <a:latin typeface="Times New Roman"/>
                <a:cs typeface="Times New Roman"/>
              </a:rPr>
              <a:t> </a:t>
            </a:r>
            <a:r>
              <a:rPr sz="2000" b="1" spc="-10" dirty="0">
                <a:latin typeface="Times New Roman"/>
                <a:cs typeface="Times New Roman"/>
              </a:rPr>
              <a:t>:</a:t>
            </a:r>
            <a:endParaRPr lang="en-US" sz="2000" b="1" spc="-10" dirty="0">
              <a:latin typeface="Times New Roman"/>
              <a:cs typeface="Times New Roman"/>
            </a:endParaRPr>
          </a:p>
          <a:p>
            <a:pPr marL="13970">
              <a:lnSpc>
                <a:spcPct val="100000"/>
              </a:lnSpc>
              <a:spcBef>
                <a:spcPts val="5"/>
              </a:spcBef>
            </a:pPr>
            <a:r>
              <a:rPr lang="en-IN" sz="2000" b="1" spc="-10" dirty="0">
                <a:latin typeface="Times New Roman"/>
                <a:cs typeface="Times New Roman"/>
              </a:rPr>
              <a:t>		</a:t>
            </a:r>
            <a:r>
              <a:rPr lang="en-IN" sz="2000" spc="-10" dirty="0">
                <a:latin typeface="Times New Roman"/>
                <a:cs typeface="Times New Roman"/>
              </a:rPr>
              <a:t>Sanjay P(23CSR189)</a:t>
            </a:r>
          </a:p>
          <a:p>
            <a:pPr marL="13970">
              <a:lnSpc>
                <a:spcPct val="100000"/>
              </a:lnSpc>
              <a:spcBef>
                <a:spcPts val="5"/>
              </a:spcBef>
            </a:pPr>
            <a:r>
              <a:rPr lang="en-IN" sz="2000" spc="-10" dirty="0">
                <a:latin typeface="Times New Roman"/>
                <a:cs typeface="Times New Roman"/>
              </a:rPr>
              <a:t>		Sanjaykumar P (23CSR190)</a:t>
            </a:r>
          </a:p>
          <a:p>
            <a:pPr marL="13970">
              <a:lnSpc>
                <a:spcPct val="100000"/>
              </a:lnSpc>
              <a:spcBef>
                <a:spcPts val="5"/>
              </a:spcBef>
            </a:pPr>
            <a:r>
              <a:rPr lang="en-IN" sz="2000" spc="-10" dirty="0">
                <a:latin typeface="Times New Roman"/>
                <a:cs typeface="Times New Roman"/>
              </a:rPr>
              <a:t>		Shaswanth R (23CSR199)</a:t>
            </a:r>
            <a:endParaRPr sz="2000" dirty="0">
              <a:latin typeface="Times New Roman"/>
              <a:cs typeface="Times New Roman"/>
            </a:endParaRPr>
          </a:p>
        </p:txBody>
      </p:sp>
      <p:sp>
        <p:nvSpPr>
          <p:cNvPr id="8" name="TextBox 7">
            <a:extLst>
              <a:ext uri="{FF2B5EF4-FFF2-40B4-BE49-F238E27FC236}">
                <a16:creationId xmlns:a16="http://schemas.microsoft.com/office/drawing/2014/main" id="{D9B35B09-C5FD-0EC1-E8EB-46316CB0500E}"/>
              </a:ext>
            </a:extLst>
          </p:cNvPr>
          <p:cNvSpPr txBox="1"/>
          <p:nvPr/>
        </p:nvSpPr>
        <p:spPr>
          <a:xfrm>
            <a:off x="3600787" y="489466"/>
            <a:ext cx="5540755" cy="400110"/>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22CSP72 – PROJECT WORK II PHASE I</a:t>
            </a:r>
          </a:p>
        </p:txBody>
      </p:sp>
      <p:sp>
        <p:nvSpPr>
          <p:cNvPr id="9" name="TextBox 8">
            <a:extLst>
              <a:ext uri="{FF2B5EF4-FFF2-40B4-BE49-F238E27FC236}">
                <a16:creationId xmlns:a16="http://schemas.microsoft.com/office/drawing/2014/main" id="{EC2C564B-E500-C992-A42C-A5E97DD74060}"/>
              </a:ext>
            </a:extLst>
          </p:cNvPr>
          <p:cNvSpPr txBox="1"/>
          <p:nvPr/>
        </p:nvSpPr>
        <p:spPr>
          <a:xfrm>
            <a:off x="3228867" y="1541740"/>
            <a:ext cx="5649022" cy="1200329"/>
          </a:xfrm>
          <a:prstGeom prst="rect">
            <a:avLst/>
          </a:prstGeom>
          <a:noFill/>
        </p:spPr>
        <p:txBody>
          <a:bodyPr wrap="square" rtlCol="0">
            <a:spAutoFit/>
          </a:bodyPr>
          <a:lstStyle/>
          <a:p>
            <a:pPr algn="ctr"/>
            <a:r>
              <a:rPr lang="en-IN" sz="2200" b="1" dirty="0"/>
              <a:t>A </a:t>
            </a:r>
            <a:r>
              <a:rPr lang="en-IN" sz="2400" b="1" dirty="0" err="1"/>
              <a:t>Behavior</a:t>
            </a:r>
            <a:r>
              <a:rPr lang="en-IN" sz="2400" b="1" dirty="0"/>
              <a:t> Consistency Framework for AI-Based Suspicious Transaction Detection in Banking</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200400" y="0"/>
            <a:ext cx="4572000" cy="602023"/>
          </a:xfrm>
          <a:prstGeom prst="rect">
            <a:avLst/>
          </a:prstGeom>
        </p:spPr>
        <p:txBody>
          <a:bodyPr vert="horz" wrap="square" lIns="0" tIns="199961" rIns="0" bIns="0" rtlCol="0">
            <a:spAutoFit/>
          </a:bodyPr>
          <a:lstStyle/>
          <a:p>
            <a:pPr marL="12700" algn="just">
              <a:lnSpc>
                <a:spcPct val="100000"/>
              </a:lnSpc>
              <a:spcBef>
                <a:spcPts val="130"/>
              </a:spcBef>
            </a:pPr>
            <a:r>
              <a:rPr lang="en-IN" sz="2600" spc="-20" dirty="0"/>
              <a:t>PROBLEM</a:t>
            </a:r>
            <a:r>
              <a:rPr lang="en-IN" sz="2600" spc="-200" dirty="0"/>
              <a:t> </a:t>
            </a:r>
            <a:r>
              <a:rPr lang="en-IN" sz="2600" spc="-10" dirty="0"/>
              <a:t>STATEMENT</a:t>
            </a:r>
            <a:endParaRPr sz="2600" spc="-10" dirty="0"/>
          </a:p>
        </p:txBody>
      </p:sp>
      <p:sp>
        <p:nvSpPr>
          <p:cNvPr id="3" name="object 3"/>
          <p:cNvSpPr txBox="1">
            <a:spLocks noGrp="1"/>
          </p:cNvSpPr>
          <p:nvPr>
            <p:ph type="sldNum" sz="quarter" idx="7"/>
          </p:nvPr>
        </p:nvSpPr>
        <p:spPr>
          <a:xfrm>
            <a:off x="8529319" y="6386289"/>
            <a:ext cx="216534" cy="269304"/>
          </a:xfrm>
          <a:prstGeom prst="rect">
            <a:avLst/>
          </a:prstGeom>
        </p:spPr>
        <p:txBody>
          <a:bodyPr vert="horz" wrap="square" lIns="0" tIns="0" rIns="0" bIns="0" rtlCol="0">
            <a:spAutoFit/>
          </a:bodyPr>
          <a:lstStyle/>
          <a:p>
            <a:pPr marL="38100" algn="just">
              <a:lnSpc>
                <a:spcPts val="2090"/>
              </a:lnSpc>
            </a:pPr>
            <a:fld id="{81D60167-4931-47E6-BA6A-407CBD079E47}" type="slidenum">
              <a:rPr spc="-50" dirty="0"/>
              <a:pPr marL="38100" algn="just">
                <a:lnSpc>
                  <a:spcPts val="2090"/>
                </a:lnSpc>
              </a:pPr>
              <a:t>2</a:t>
            </a:fld>
            <a:endParaRPr spc="-50" dirty="0"/>
          </a:p>
        </p:txBody>
      </p:sp>
      <p:sp>
        <p:nvSpPr>
          <p:cNvPr id="7" name="TextBox 6">
            <a:extLst>
              <a:ext uri="{FF2B5EF4-FFF2-40B4-BE49-F238E27FC236}">
                <a16:creationId xmlns:a16="http://schemas.microsoft.com/office/drawing/2014/main" id="{84D56194-B8DF-0C71-0106-EA380466F018}"/>
              </a:ext>
            </a:extLst>
          </p:cNvPr>
          <p:cNvSpPr txBox="1"/>
          <p:nvPr/>
        </p:nvSpPr>
        <p:spPr>
          <a:xfrm>
            <a:off x="999067" y="1247842"/>
            <a:ext cx="7772400" cy="2862322"/>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 rapid growth of digital banking, online payments, and electronic fund transfers has significantly increased the number of financial transactions, creating greater opportunities for money laundering and suspicious financial activities. Traditional rule-based monitoring systems and many existing AI-based approaches primarily rely on transaction-level features, making it difficult to detect evolving fraud patterns accurately and often resulting in high false-positive rates.</a:t>
            </a:r>
          </a:p>
          <a:p>
            <a:pPr algn="just"/>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74E046D-A44A-5AD1-BC05-6DC7E913DAB1}"/>
              </a:ext>
            </a:extLst>
          </p:cNvPr>
          <p:cNvSpPr txBox="1"/>
          <p:nvPr/>
        </p:nvSpPr>
        <p:spPr>
          <a:xfrm>
            <a:off x="973453" y="3733800"/>
            <a:ext cx="7772400" cy="2246769"/>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This project proposes to enhance suspicious transaction detection by incorporating a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Consistency Score (BCS) derived from a customer's historical transaction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By comparing current transactions with normal </a:t>
            </a:r>
            <a:r>
              <a:rPr lang="en-IN" sz="2000" dirty="0" err="1">
                <a:latin typeface="Times New Roman" panose="02020603050405020304" pitchFamily="18" charset="0"/>
                <a:cs typeface="Times New Roman" panose="02020603050405020304" pitchFamily="18" charset="0"/>
              </a:rPr>
              <a:t>behavioral</a:t>
            </a:r>
            <a:r>
              <a:rPr lang="en-IN" sz="2000" dirty="0">
                <a:latin typeface="Times New Roman" panose="02020603050405020304" pitchFamily="18" charset="0"/>
                <a:cs typeface="Times New Roman" panose="02020603050405020304" pitchFamily="18" charset="0"/>
              </a:rPr>
              <a:t> patterns and integrating BCS as an additional feature in machine learning models, the proposed system aims to improve detection performance while providing more reliable and interpretable suspicious transaction alerts.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468F-37B1-7557-7579-85881BAE0F56}"/>
              </a:ext>
            </a:extLst>
          </p:cNvPr>
          <p:cNvSpPr>
            <a:spLocks noGrp="1"/>
          </p:cNvSpPr>
          <p:nvPr>
            <p:ph type="title"/>
          </p:nvPr>
        </p:nvSpPr>
        <p:spPr>
          <a:xfrm>
            <a:off x="3200400" y="85366"/>
            <a:ext cx="4691380" cy="492443"/>
          </a:xfrm>
        </p:spPr>
        <p:txBody>
          <a:bodyPr/>
          <a:lstStyle/>
          <a:p>
            <a:r>
              <a:rPr lang="en-IN" dirty="0"/>
              <a:t>Literature Survey </a:t>
            </a:r>
          </a:p>
        </p:txBody>
      </p:sp>
      <p:sp>
        <p:nvSpPr>
          <p:cNvPr id="3" name="Rectangle 2"/>
          <p:cNvSpPr/>
          <p:nvPr/>
        </p:nvSpPr>
        <p:spPr>
          <a:xfrm>
            <a:off x="834705" y="762000"/>
            <a:ext cx="7924800" cy="2031325"/>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Paper 1: </a:t>
            </a:r>
            <a:r>
              <a:rPr lang="en-US" b="1" dirty="0">
                <a:solidFill>
                  <a:schemeClr val="tx1"/>
                </a:solidFill>
                <a:latin typeface="Times New Roman" panose="02020603050405020304" pitchFamily="18" charset="0"/>
                <a:cs typeface="Times New Roman" panose="02020603050405020304" pitchFamily="18" charset="0"/>
              </a:rPr>
              <a:t>AI-Driven Fraud Detection: A Risk Scoring Model for Enhanced 	Security in Banking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Develops a Risk Scoring Model (0–100) to identify potentially fraudulent banking activities.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indicators such as new device logins, contact information changes, new payees, and high-value transactions to calculate risk.</a:t>
            </a:r>
          </a:p>
          <a:p>
            <a:endParaRPr lang="en-IN"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82F9001-4E94-8D1E-2D9E-6B6EE101B51A}"/>
              </a:ext>
            </a:extLst>
          </p:cNvPr>
          <p:cNvSpPr/>
          <p:nvPr/>
        </p:nvSpPr>
        <p:spPr>
          <a:xfrm>
            <a:off x="834705" y="2700517"/>
            <a:ext cx="7924800" cy="1754326"/>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Paper 2: </a:t>
            </a:r>
            <a:r>
              <a:rPr lang="en-US" b="1" dirty="0">
                <a:solidFill>
                  <a:schemeClr val="tx1"/>
                </a:solidFill>
                <a:latin typeface="Times New Roman" panose="02020603050405020304" pitchFamily="18" charset="0"/>
                <a:cs typeface="Times New Roman" panose="02020603050405020304" pitchFamily="18" charset="0"/>
              </a:rPr>
              <a:t>Comparative analysis of machine learning algorithms for money 	laundering detection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Compares multiple machine learning algorithms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Random Forest, KNN, SVM, Isolation Forest) for detecting money laundering transactions.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as the best-performing model, achieving the highest accuracy, precision, recall, and F1-score among the evaluated algorithms.</a:t>
            </a:r>
          </a:p>
        </p:txBody>
      </p:sp>
      <p:sp>
        <p:nvSpPr>
          <p:cNvPr id="5" name="Rectangle 4">
            <a:extLst>
              <a:ext uri="{FF2B5EF4-FFF2-40B4-BE49-F238E27FC236}">
                <a16:creationId xmlns:a16="http://schemas.microsoft.com/office/drawing/2014/main" id="{5CBE5FF0-A84E-47C6-E530-3C8CCF4C706F}"/>
              </a:ext>
            </a:extLst>
          </p:cNvPr>
          <p:cNvSpPr/>
          <p:nvPr/>
        </p:nvSpPr>
        <p:spPr>
          <a:xfrm>
            <a:off x="834705" y="4724400"/>
            <a:ext cx="7924800" cy="1754326"/>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Paper 3: </a:t>
            </a:r>
            <a:r>
              <a:rPr lang="en-US" b="1" dirty="0">
                <a:solidFill>
                  <a:schemeClr val="tx1"/>
                </a:solidFill>
                <a:latin typeface="Times New Roman" panose="02020603050405020304" pitchFamily="18" charset="0"/>
                <a:cs typeface="Times New Roman" panose="02020603050405020304" pitchFamily="18" charset="0"/>
              </a:rPr>
              <a:t>A Suspicious Financial Transaction Detection Model Using 	Autoencoder and Risk-Based Approach</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an Autoencoder model to learn normal transaction patterns and identify anomalous (suspicious) financial transactions.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anomaly detection with a risk-based approach to improve Anti-Money Laundering (AML) monitoring and suspicious transaction detection.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2541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AE49-49A9-86DA-CCD4-BC0A4F473C34}"/>
              </a:ext>
            </a:extLst>
          </p:cNvPr>
          <p:cNvSpPr>
            <a:spLocks noGrp="1"/>
          </p:cNvSpPr>
          <p:nvPr>
            <p:ph type="title"/>
          </p:nvPr>
        </p:nvSpPr>
        <p:spPr>
          <a:xfrm>
            <a:off x="3543300" y="366236"/>
            <a:ext cx="2667000" cy="492443"/>
          </a:xfrm>
        </p:spPr>
        <p:txBody>
          <a:bodyPr/>
          <a:lstStyle/>
          <a:p>
            <a:r>
              <a:rPr lang="en-IN" dirty="0"/>
              <a:t>Research Gap</a:t>
            </a:r>
          </a:p>
        </p:txBody>
      </p:sp>
      <p:sp>
        <p:nvSpPr>
          <p:cNvPr id="6" name="TextBox 5">
            <a:extLst>
              <a:ext uri="{FF2B5EF4-FFF2-40B4-BE49-F238E27FC236}">
                <a16:creationId xmlns:a16="http://schemas.microsoft.com/office/drawing/2014/main" id="{E481AA0C-B5CA-B3E7-BCAA-1EAFB8B4D976}"/>
              </a:ext>
            </a:extLst>
          </p:cNvPr>
          <p:cNvSpPr txBox="1"/>
          <p:nvPr/>
        </p:nvSpPr>
        <p:spPr>
          <a:xfrm>
            <a:off x="1066800" y="1143000"/>
            <a:ext cx="7467600" cy="5016758"/>
          </a:xfrm>
          <a:prstGeom prst="rect">
            <a:avLst/>
          </a:prstGeom>
          <a:noFill/>
        </p:spPr>
        <p:txBody>
          <a:bodyPr wrap="square">
            <a:spAutoFit/>
          </a:bodyPr>
          <a:lstStyle/>
          <a:p>
            <a:pPr algn="l"/>
            <a:endParaRPr lang="en-IN" sz="20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systems mainly rely on transaction-level features for detection.</a:t>
            </a:r>
          </a:p>
          <a:p>
            <a:pPr marL="285750" indent="-28575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models use Random Forest, </a:t>
            </a: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Autoencoders, and Isolation Forest.</a:t>
            </a:r>
          </a:p>
          <a:p>
            <a:pPr marL="285750" indent="-28575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Current approaches provide limited explanation for suspicious predictions.</a:t>
            </a:r>
          </a:p>
          <a:p>
            <a:pPr marL="285750" indent="-28575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Customer historical </a:t>
            </a:r>
            <a:r>
              <a:rPr lang="en-IN" sz="2000" dirty="0" err="1">
                <a:latin typeface="Times New Roman" panose="02020603050405020304" pitchFamily="18" charset="0"/>
                <a:cs typeface="Times New Roman" panose="02020603050405020304" pitchFamily="18" charset="0"/>
              </a:rPr>
              <a:t>behavioral</a:t>
            </a:r>
            <a:r>
              <a:rPr lang="en-IN" sz="2000" dirty="0">
                <a:latin typeface="Times New Roman" panose="02020603050405020304" pitchFamily="18" charset="0"/>
                <a:cs typeface="Times New Roman" panose="02020603050405020304" pitchFamily="18" charset="0"/>
              </a:rPr>
              <a:t> consistency is not fully utilized as an additional feature.</a:t>
            </a:r>
          </a:p>
          <a:p>
            <a:pPr marL="285750" indent="-28575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work investigates a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Consistency Score (BCS) to enhance suspicious transaction detection.</a:t>
            </a:r>
          </a:p>
          <a:p>
            <a:pPr marL="285750" indent="-285750" algn="l">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097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743200" y="0"/>
            <a:ext cx="4691380" cy="622477"/>
          </a:xfrm>
          <a:prstGeom prst="rect">
            <a:avLst/>
          </a:prstGeom>
        </p:spPr>
        <p:txBody>
          <a:bodyPr vert="horz" wrap="square" lIns="0" tIns="128777" rIns="0" bIns="0" rtlCol="0">
            <a:spAutoFit/>
          </a:bodyPr>
          <a:lstStyle/>
          <a:p>
            <a:pPr marL="1174750">
              <a:lnSpc>
                <a:spcPct val="100000"/>
              </a:lnSpc>
              <a:spcBef>
                <a:spcPts val="125"/>
              </a:spcBef>
            </a:pPr>
            <a:r>
              <a:rPr lang="en-IN" dirty="0"/>
              <a:t>Objectives</a:t>
            </a:r>
            <a:endParaRPr spc="-10" dirty="0"/>
          </a:p>
        </p:txBody>
      </p:sp>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2090"/>
              </a:lnSpc>
            </a:pPr>
            <a:fld id="{81D60167-4931-47E6-BA6A-407CBD079E47}" type="slidenum">
              <a:rPr spc="-50" dirty="0"/>
              <a:t>5</a:t>
            </a:fld>
            <a:endParaRPr spc="-50" dirty="0"/>
          </a:p>
        </p:txBody>
      </p:sp>
      <p:sp>
        <p:nvSpPr>
          <p:cNvPr id="4" name="TextBox 3">
            <a:extLst>
              <a:ext uri="{FF2B5EF4-FFF2-40B4-BE49-F238E27FC236}">
                <a16:creationId xmlns:a16="http://schemas.microsoft.com/office/drawing/2014/main" id="{1CB00449-3AE3-7462-1924-302801736ABB}"/>
              </a:ext>
            </a:extLst>
          </p:cNvPr>
          <p:cNvSpPr txBox="1"/>
          <p:nvPr/>
        </p:nvSpPr>
        <p:spPr>
          <a:xfrm>
            <a:off x="3124200" y="721056"/>
            <a:ext cx="4234180"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Aims of the Proposed Work </a:t>
            </a:r>
            <a:endParaRPr lang="en-IN"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9801885-1AFD-716C-2126-1D99335C7C35}"/>
              </a:ext>
            </a:extLst>
          </p:cNvPr>
          <p:cNvSpPr txBox="1"/>
          <p:nvPr/>
        </p:nvSpPr>
        <p:spPr>
          <a:xfrm>
            <a:off x="913932" y="1540961"/>
            <a:ext cx="7694293" cy="4985980"/>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an AI-driven suspicious transaction detection  for identifying potential money laundering and fraudulent banking transactions.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customer historical transaction patterns and construct a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Consistency Score (BCS) to measure transaction consistency.</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integrate the BCS as an additional input feature along with transaction attributes in Machine Learning models for enhanced detection.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evaluate whether the proposed BCS improves detection performance by reducing false positives and improving prediction accuracy.</a:t>
            </a:r>
          </a:p>
          <a:p>
            <a:pPr marL="342900" indent="-34290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5314-C00E-8D39-9D3E-21D958525E32}"/>
              </a:ext>
            </a:extLst>
          </p:cNvPr>
          <p:cNvSpPr>
            <a:spLocks noGrp="1"/>
          </p:cNvSpPr>
          <p:nvPr>
            <p:ph type="title" idx="4294967295"/>
          </p:nvPr>
        </p:nvSpPr>
        <p:spPr>
          <a:xfrm>
            <a:off x="4114800" y="127000"/>
            <a:ext cx="1563624" cy="517525"/>
          </a:xfrm>
        </p:spPr>
        <p:txBody>
          <a:bodyPr/>
          <a:lstStyle/>
          <a:p>
            <a:r>
              <a:rPr lang="en-IN" dirty="0"/>
              <a:t>Novelty</a:t>
            </a:r>
          </a:p>
        </p:txBody>
      </p:sp>
      <p:sp>
        <p:nvSpPr>
          <p:cNvPr id="6" name="Rectangle 2"/>
          <p:cNvSpPr>
            <a:spLocks noChangeArrowheads="1"/>
          </p:cNvSpPr>
          <p:nvPr/>
        </p:nvSpPr>
        <p:spPr bwMode="auto">
          <a:xfrm>
            <a:off x="685800" y="990600"/>
            <a:ext cx="8077200"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Behavior</a:t>
            </a:r>
            <a:r>
              <a:rPr lang="en-IN" sz="2000" b="1" dirty="0">
                <a:latin typeface="Times New Roman" panose="02020603050405020304" pitchFamily="18" charset="0"/>
                <a:cs typeface="Times New Roman" panose="02020603050405020304" pitchFamily="18" charset="0"/>
              </a:rPr>
              <a:t> Consistency Score (BCS)</a:t>
            </a:r>
            <a:r>
              <a:rPr lang="en-IN" sz="2000" dirty="0">
                <a:latin typeface="Times New Roman" panose="02020603050405020304" pitchFamily="18" charset="0"/>
                <a:cs typeface="Times New Roman" panose="02020603050405020304" pitchFamily="18" charset="0"/>
              </a:rPr>
              <a:t>: Introduces a </a:t>
            </a:r>
            <a:r>
              <a:rPr lang="en-IN" sz="2000" dirty="0" err="1">
                <a:latin typeface="Times New Roman" panose="02020603050405020304" pitchFamily="18" charset="0"/>
                <a:cs typeface="Times New Roman" panose="02020603050405020304" pitchFamily="18" charset="0"/>
              </a:rPr>
              <a:t>behavioral</a:t>
            </a:r>
            <a:r>
              <a:rPr lang="en-IN" sz="2000" dirty="0">
                <a:latin typeface="Times New Roman" panose="02020603050405020304" pitchFamily="18" charset="0"/>
                <a:cs typeface="Times New Roman" panose="02020603050405020304" pitchFamily="18" charset="0"/>
              </a:rPr>
              <a:t> score by comparing the current transaction with the customer's historical transaction patterns.</a:t>
            </a:r>
          </a:p>
          <a:p>
            <a:pPr algn="just">
              <a:lnSpc>
                <a:spcPct val="150000"/>
              </a:lnSpc>
            </a:pPr>
            <a:endParaRPr lang="en-IN"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BCS as an Additional ML Feature</a:t>
            </a:r>
            <a:r>
              <a:rPr lang="en-IN" sz="2000" dirty="0">
                <a:latin typeface="Times New Roman" panose="02020603050405020304" pitchFamily="18" charset="0"/>
                <a:cs typeface="Times New Roman" panose="02020603050405020304" pitchFamily="18" charset="0"/>
              </a:rPr>
              <a:t>: Integrates the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Consistency Score along with existing transaction attributes to improve machine learning-based prediction.</a:t>
            </a:r>
          </a:p>
          <a:p>
            <a:pPr algn="just">
              <a:lnSpc>
                <a:spcPct val="150000"/>
              </a:lnSpc>
            </a:pPr>
            <a:endParaRPr lang="en-IN" sz="20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Reduced False Positives</a:t>
            </a:r>
            <a:r>
              <a:rPr lang="en-IN" sz="2000" dirty="0">
                <a:latin typeface="Times New Roman" panose="02020603050405020304" pitchFamily="18" charset="0"/>
                <a:cs typeface="Times New Roman" panose="02020603050405020304" pitchFamily="18" charset="0"/>
              </a:rPr>
              <a:t>: Investigates whether incorporating BCS can reduce false positives and improve overall detection performance compared to traditional transaction-level models</a:t>
            </a:r>
          </a:p>
        </p:txBody>
      </p:sp>
    </p:spTree>
    <p:extLst>
      <p:ext uri="{BB962C8B-B14F-4D97-AF65-F5344CB8AC3E}">
        <p14:creationId xmlns:p14="http://schemas.microsoft.com/office/powerpoint/2010/main" val="3351957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743E6-8932-329A-538E-CB84ABE84C81}"/>
              </a:ext>
            </a:extLst>
          </p:cNvPr>
          <p:cNvSpPr>
            <a:spLocks noGrp="1"/>
          </p:cNvSpPr>
          <p:nvPr>
            <p:ph type="title"/>
          </p:nvPr>
        </p:nvSpPr>
        <p:spPr>
          <a:xfrm>
            <a:off x="2667000" y="76200"/>
            <a:ext cx="4691380" cy="584772"/>
          </a:xfrm>
        </p:spPr>
        <p:txBody>
          <a:bodyPr/>
          <a:lstStyle/>
          <a:p>
            <a:r>
              <a:rPr lang="en-IN" dirty="0"/>
              <a:t>Proposed Methodology</a:t>
            </a:r>
            <a:br>
              <a:rPr lang="en-IN" dirty="0"/>
            </a:br>
            <a:endParaRPr lang="en-IN" dirty="0"/>
          </a:p>
        </p:txBody>
      </p:sp>
      <p:pic>
        <p:nvPicPr>
          <p:cNvPr id="4" name="Picture 3">
            <a:extLst>
              <a:ext uri="{FF2B5EF4-FFF2-40B4-BE49-F238E27FC236}">
                <a16:creationId xmlns:a16="http://schemas.microsoft.com/office/drawing/2014/main" id="{9AA3A24A-F9CE-305C-CDB3-57507632C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600" y="838200"/>
            <a:ext cx="3657600" cy="5651679"/>
          </a:xfrm>
          <a:prstGeom prst="rect">
            <a:avLst/>
          </a:prstGeom>
        </p:spPr>
      </p:pic>
    </p:spTree>
    <p:extLst>
      <p:ext uri="{BB962C8B-B14F-4D97-AF65-F5344CB8AC3E}">
        <p14:creationId xmlns:p14="http://schemas.microsoft.com/office/powerpoint/2010/main" val="2626792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9400" y="3276600"/>
            <a:ext cx="4572000" cy="830997"/>
          </a:xfrm>
          <a:prstGeom prst="rect">
            <a:avLst/>
          </a:prstGeom>
        </p:spPr>
        <p:txBody>
          <a:bodyPr>
            <a:spAutoFit/>
          </a:bodyPr>
          <a:lstStyle/>
          <a:p>
            <a:r>
              <a:rPr lang="en-IN" b="1" dirty="0"/>
              <a:t> </a:t>
            </a:r>
            <a:r>
              <a:rPr lang="en-IN" sz="4800" b="1" dirty="0"/>
              <a:t>Thank You </a:t>
            </a:r>
            <a:endParaRPr lang="en-IN" sz="4800" dirty="0"/>
          </a:p>
        </p:txBody>
      </p:sp>
    </p:spTree>
    <p:extLst>
      <p:ext uri="{BB962C8B-B14F-4D97-AF65-F5344CB8AC3E}">
        <p14:creationId xmlns:p14="http://schemas.microsoft.com/office/powerpoint/2010/main" val="7272392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1204</TotalTime>
  <Words>585</Words>
  <Application>Microsoft Office PowerPoint</Application>
  <PresentationFormat>On-screen Show (4:3)</PresentationFormat>
  <Paragraphs>56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MT</vt:lpstr>
      <vt:lpstr>Calibri</vt:lpstr>
      <vt:lpstr>Times New Roman</vt:lpstr>
      <vt:lpstr>Office Theme</vt:lpstr>
      <vt:lpstr>PowerPoint Presentation</vt:lpstr>
      <vt:lpstr>PROBLEM STATEMENT</vt:lpstr>
      <vt:lpstr>Literature Survey </vt:lpstr>
      <vt:lpstr>Research Gap</vt:lpstr>
      <vt:lpstr>Objectives</vt:lpstr>
      <vt:lpstr>Novelty</vt:lpstr>
      <vt:lpstr>Proposed Methodology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Sanjay Kumar</cp:lastModifiedBy>
  <cp:revision>23</cp:revision>
  <dcterms:created xsi:type="dcterms:W3CDTF">2026-04-28T09:54:59Z</dcterms:created>
  <dcterms:modified xsi:type="dcterms:W3CDTF">2026-06-29T10:48:56Z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2025-05-21T00:00:00Z</vt:filetime>
  </property>
  <property fmtid="{D5CDD505-2E9C-101B-9397-08002B2CF9AE}" pid="4" name="LastSaved">
    <vt:filetime>2026-04-28T00:00:00Z</vt:filetime>
  </property>
</Properties>
</file>