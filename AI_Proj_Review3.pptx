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61" r:id="rId4"/>
    <p:sldId id="259" r:id="rId5"/>
    <p:sldId id="269" r:id="rId6"/>
    <p:sldId id="270" r:id="rId7"/>
    <p:sldId id="274" r:id="rId8"/>
    <p:sldId id="272" r:id="rId9"/>
    <p:sldId id="275" r:id="rId10"/>
    <p:sldId id="271" r:id="rId11"/>
    <p:sldId id="267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6704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343025"/>
            <a:ext cx="1476375" cy="13811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4495800"/>
            <a:ext cx="1476375" cy="1838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175" y="405828"/>
            <a:ext cx="4691380" cy="725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205098" y="3581400"/>
            <a:ext cx="5540755" cy="28373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latin typeface="Times New Roman"/>
                <a:cs typeface="Times New Roman"/>
              </a:rPr>
              <a:t>Date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r>
              <a:rPr lang="en-US" sz="2000" b="1" spc="-10" dirty="0">
                <a:latin typeface="Times New Roman"/>
                <a:cs typeface="Times New Roman"/>
              </a:rPr>
              <a:t>  </a:t>
            </a:r>
            <a:r>
              <a:rPr lang="en-US" sz="2000" spc="-10" dirty="0">
                <a:latin typeface="Times New Roman"/>
                <a:cs typeface="Times New Roman"/>
              </a:rPr>
              <a:t>10.10.2026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Number : </a:t>
            </a:r>
            <a:r>
              <a:rPr lang="en-IN" sz="2000" spc="-10" dirty="0">
                <a:latin typeface="Times New Roman"/>
                <a:cs typeface="Times New Roman"/>
              </a:rPr>
              <a:t>D01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Team Guide : </a:t>
            </a:r>
            <a:r>
              <a:rPr lang="en-IN" sz="2000" spc="-10" dirty="0">
                <a:latin typeface="Times New Roman"/>
                <a:cs typeface="Times New Roman"/>
              </a:rPr>
              <a:t>Mr. </a:t>
            </a:r>
            <a:r>
              <a:rPr lang="en-IN" sz="2000" spc="-10" dirty="0" err="1">
                <a:latin typeface="Times New Roman"/>
                <a:cs typeface="Times New Roman"/>
              </a:rPr>
              <a:t>B.Bizu</a:t>
            </a:r>
            <a:r>
              <a:rPr lang="en-IN" sz="2000" spc="-10" dirty="0">
                <a:latin typeface="Times New Roman"/>
                <a:cs typeface="Times New Roman"/>
              </a:rPr>
              <a:t> AP/CSE</a:t>
            </a:r>
            <a:endParaRPr sz="200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Team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Members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: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b="1" spc="-10" dirty="0">
                <a:latin typeface="Times New Roman"/>
                <a:cs typeface="Times New Roman"/>
              </a:rPr>
              <a:t>		</a:t>
            </a:r>
            <a:r>
              <a:rPr lang="en-IN" sz="2000" spc="-10" dirty="0">
                <a:latin typeface="Times New Roman"/>
                <a:cs typeface="Times New Roman"/>
              </a:rPr>
              <a:t>Sanjay P(23CSR189)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Sanjaykumar P (23CSR190)</a:t>
            </a: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lang="en-IN" sz="2000" spc="-10" dirty="0">
                <a:latin typeface="Times New Roman"/>
                <a:cs typeface="Times New Roman"/>
              </a:rPr>
              <a:t>		Shaswanth R (23CSR199)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35B09-C5FD-0EC1-E8EB-46316CB0500E}"/>
              </a:ext>
            </a:extLst>
          </p:cNvPr>
          <p:cNvSpPr txBox="1"/>
          <p:nvPr/>
        </p:nvSpPr>
        <p:spPr>
          <a:xfrm>
            <a:off x="3600787" y="489466"/>
            <a:ext cx="5540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22CSP72 – PROJECT WORK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2C564B-E500-C992-A42C-A5E97DD74060}"/>
              </a:ext>
            </a:extLst>
          </p:cNvPr>
          <p:cNvSpPr txBox="1"/>
          <p:nvPr/>
        </p:nvSpPr>
        <p:spPr>
          <a:xfrm>
            <a:off x="3228867" y="1541740"/>
            <a:ext cx="56490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/>
              <a:t>A </a:t>
            </a:r>
            <a:r>
              <a:rPr lang="en-IN" sz="2400" b="1" dirty="0" err="1"/>
              <a:t>Behavior</a:t>
            </a:r>
            <a:r>
              <a:rPr lang="en-IN" sz="2400" b="1" dirty="0"/>
              <a:t> Consistency Framework for AI-Based Suspicious Transaction Detection in Banking Systems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370C5-ABD4-7DD7-839A-4AECE4BF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17CF-CA1A-5B91-8664-17FFC9DA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05799"/>
            <a:ext cx="4800600" cy="461665"/>
          </a:xfrm>
        </p:spPr>
        <p:txBody>
          <a:bodyPr/>
          <a:lstStyle/>
          <a:p>
            <a:r>
              <a:rPr lang="en-IN" sz="3000" dirty="0"/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96918-A6A9-4952-B44F-1430FE7CA964}"/>
              </a:ext>
            </a:extLst>
          </p:cNvPr>
          <p:cNvSpPr txBox="1"/>
          <p:nvPr/>
        </p:nvSpPr>
        <p:spPr>
          <a:xfrm>
            <a:off x="1143000" y="1143000"/>
            <a:ext cx="7467600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/>
              <a:t>Rapid growth of digital banking and electronic fund transfers has increased opportunities for money laundering and financial fraud.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/>
              <a:t>Traditional rule-based systems and standard AI models rely heavily on isolated transaction-level features, struggling to detect evolving fraud patterns accurately.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/>
              <a:t>Current detection methods frequently trigger false alarms, causing unnecessary friction and audit overhead.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/>
              <a:t>Incorporating a custom </a:t>
            </a:r>
            <a:r>
              <a:rPr lang="en-IN" sz="1900" b="1" dirty="0" err="1"/>
              <a:t>Behavior</a:t>
            </a:r>
            <a:r>
              <a:rPr lang="en-IN" sz="1900" b="1" dirty="0"/>
              <a:t> Consistency Score (BCS)</a:t>
            </a:r>
            <a:r>
              <a:rPr lang="en-IN" sz="1900" dirty="0"/>
              <a:t> derived from historical customer patterns.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9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/>
              <a:t>Enhance suspicious transaction detection and machine learning reliability by integrating </a:t>
            </a:r>
            <a:r>
              <a:rPr lang="en-IN" sz="1900" dirty="0" err="1"/>
              <a:t>behavioral</a:t>
            </a:r>
            <a:r>
              <a:rPr lang="en-IN" sz="1900" dirty="0"/>
              <a:t> metrics to generate more accurate and interpretable alerts.</a:t>
            </a:r>
          </a:p>
        </p:txBody>
      </p:sp>
    </p:spTree>
    <p:extLst>
      <p:ext uri="{BB962C8B-B14F-4D97-AF65-F5344CB8AC3E}">
        <p14:creationId xmlns:p14="http://schemas.microsoft.com/office/powerpoint/2010/main" val="68711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468F-37B1-7557-7579-85881BAE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85366"/>
            <a:ext cx="4691380" cy="492443"/>
          </a:xfrm>
        </p:spPr>
        <p:txBody>
          <a:bodyPr/>
          <a:lstStyle/>
          <a:p>
            <a:r>
              <a:rPr lang="en-IN" dirty="0"/>
              <a:t>Literature Survey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2C0AB5-0B4C-5894-DE70-9328B4D6E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349213"/>
              </p:ext>
            </p:extLst>
          </p:nvPr>
        </p:nvGraphicFramePr>
        <p:xfrm>
          <a:off x="762000" y="914400"/>
          <a:ext cx="8229600" cy="563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5871561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71321324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23418481"/>
                    </a:ext>
                  </a:extLst>
                </a:gridCol>
              </a:tblGrid>
              <a:tr h="77423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 Paper 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Methodology / Approach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Key Findings / Contribution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extLst>
                  <a:ext uri="{0D108BD9-81ED-4DB2-BD59-A6C34878D82A}">
                    <a16:rowId xmlns:a16="http://schemas.microsoft.com/office/drawing/2014/main" val="314416796"/>
                  </a:ext>
                </a:extLst>
              </a:tr>
              <a:tr h="172743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Paper 1</a:t>
                      </a:r>
                      <a:r>
                        <a:rPr lang="en-IN" sz="1700" dirty="0">
                          <a:effectLst/>
                          <a:latin typeface="Google Sans Text"/>
                        </a:rPr>
                        <a:t> (2025)</a:t>
                      </a:r>
                      <a:endParaRPr lang="en-IN" sz="1700" dirty="0">
                        <a:effectLst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Risk Scoring Model (0–100) using new device logins, contact changes, new payees, and high-value transactions.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Identifies potential fraudulent banking activities via calculated risk metrics.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extLst>
                  <a:ext uri="{0D108BD9-81ED-4DB2-BD59-A6C34878D82A}">
                    <a16:rowId xmlns:a16="http://schemas.microsoft.com/office/drawing/2014/main" val="1483421570"/>
                  </a:ext>
                </a:extLst>
              </a:tr>
              <a:tr h="140970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Paper 2 (2025)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>
                          <a:effectLst/>
                        </a:rPr>
                        <a:t>Comparative analysis of XGBoost, Random Forest, KNN, SVM, and Isolation Forest.</a:t>
                      </a:r>
                      <a:endParaRPr lang="en-IN" sz="170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Established </a:t>
                      </a:r>
                      <a:r>
                        <a:rPr lang="en-IN" sz="1700" dirty="0" err="1">
                          <a:effectLst/>
                        </a:rPr>
                        <a:t>XGBoost</a:t>
                      </a:r>
                      <a:r>
                        <a:rPr lang="en-IN" sz="1700" dirty="0">
                          <a:effectLst/>
                        </a:rPr>
                        <a:t> as the top-performing model across accuracy, precision, recall, and F1-score.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extLst>
                  <a:ext uri="{0D108BD9-81ED-4DB2-BD59-A6C34878D82A}">
                    <a16:rowId xmlns:a16="http://schemas.microsoft.com/office/drawing/2014/main" val="4033867970"/>
                  </a:ext>
                </a:extLst>
              </a:tr>
              <a:tr h="1727433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Paper 3 (2024)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Autoencoder model combined with a risk-based approach for anomaly detection.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sz="1700" dirty="0">
                          <a:effectLst/>
                        </a:rPr>
                        <a:t>Improves Anti-Money Laundering (AML) monitoring by learning normal transaction patterns.</a:t>
                      </a:r>
                      <a:endParaRPr lang="en-IN" sz="1700" dirty="0">
                        <a:effectLst/>
                        <a:latin typeface="Google Sans Text"/>
                      </a:endParaRPr>
                    </a:p>
                  </a:txBody>
                  <a:tcPr marL="84862" marR="84862" marT="56575" marB="56575" anchor="ctr"/>
                </a:tc>
                <a:extLst>
                  <a:ext uri="{0D108BD9-81ED-4DB2-BD59-A6C34878D82A}">
                    <a16:rowId xmlns:a16="http://schemas.microsoft.com/office/drawing/2014/main" val="357317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54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AE49-49A9-86DA-CCD4-BC0A4F47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0" y="366236"/>
            <a:ext cx="2667000" cy="492443"/>
          </a:xfrm>
        </p:spPr>
        <p:txBody>
          <a:bodyPr/>
          <a:lstStyle/>
          <a:p>
            <a:r>
              <a:rPr lang="en-IN" dirty="0"/>
              <a:t>Research Gap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1AA0C-B5CA-B3E7-BCAA-1EAFB8B4D976}"/>
              </a:ext>
            </a:extLst>
          </p:cNvPr>
          <p:cNvSpPr txBox="1"/>
          <p:nvPr/>
        </p:nvSpPr>
        <p:spPr>
          <a:xfrm>
            <a:off x="1066800" y="1143000"/>
            <a:ext cx="7467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rely on transaction-level features for detection.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models use Random Forest,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Autoencoders, and Isolation Forest.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approaches provide limited explanation for suspicious predictions.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 historical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consistency is not fully utilized as an additional feature.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investigates a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Consistency Score (BCS) to enhance suspicious transaction detection.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09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B67-51C8-3660-CB0A-826A31F1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48413"/>
            <a:ext cx="4691380" cy="430887"/>
          </a:xfrm>
        </p:spPr>
        <p:txBody>
          <a:bodyPr/>
          <a:lstStyle/>
          <a:p>
            <a:pPr algn="ctr"/>
            <a:r>
              <a:rPr lang="en-US" sz="2800" dirty="0"/>
              <a:t>System Architecture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0308E-E985-0214-2EF0-CACF9F4B3290}"/>
              </a:ext>
            </a:extLst>
          </p:cNvPr>
          <p:cNvSpPr txBox="1"/>
          <p:nvPr/>
        </p:nvSpPr>
        <p:spPr>
          <a:xfrm rot="10800000" flipH="1" flipV="1">
            <a:off x="1524000" y="609600"/>
            <a:ext cx="63246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 </a:t>
            </a:r>
            <a:r>
              <a:rPr lang="en-IN" sz="1200" dirty="0" err="1"/>
              <a:t>PaySim</a:t>
            </a:r>
            <a:r>
              <a:rPr lang="en-IN" sz="1200" dirty="0"/>
              <a:t> Dataset</a:t>
            </a:r>
          </a:p>
          <a:p>
            <a:pPr algn="ctr"/>
            <a:r>
              <a:rPr lang="en-IN" sz="1200" dirty="0"/>
              <a:t>  │</a:t>
            </a:r>
          </a:p>
          <a:p>
            <a:pPr algn="ctr"/>
            <a:r>
              <a:rPr lang="en-IN" sz="1200" dirty="0"/>
              <a:t>  ▼</a:t>
            </a:r>
          </a:p>
          <a:p>
            <a:pPr algn="ctr"/>
            <a:r>
              <a:rPr lang="en-IN" sz="1200" dirty="0"/>
              <a:t>  Data Preprocessing</a:t>
            </a:r>
          </a:p>
          <a:p>
            <a:pPr algn="ctr"/>
            <a:r>
              <a:rPr lang="en-IN" sz="1200" dirty="0"/>
              <a:t>        (Cleaning, Encoding, Feature Selection)</a:t>
            </a:r>
          </a:p>
          <a:p>
            <a:pPr algn="ctr"/>
            <a:r>
              <a:rPr lang="en-IN" sz="1200" dirty="0"/>
              <a:t>  │</a:t>
            </a:r>
          </a:p>
          <a:p>
            <a:pPr algn="ctr"/>
            <a:r>
              <a:rPr lang="en-IN" sz="1200" dirty="0"/>
              <a:t>  ▼</a:t>
            </a:r>
          </a:p>
          <a:p>
            <a:pPr algn="ctr"/>
            <a:r>
              <a:rPr lang="en-IN" sz="1200" dirty="0"/>
              <a:t>   Existing Transaction Features</a:t>
            </a:r>
          </a:p>
          <a:p>
            <a:pPr algn="ctr"/>
            <a:r>
              <a:rPr lang="en-IN" sz="1200" dirty="0"/>
              <a:t>   (Step, Amount, Balance, Transaction Type)</a:t>
            </a:r>
          </a:p>
          <a:p>
            <a:pPr algn="ctr"/>
            <a:r>
              <a:rPr lang="en-IN" sz="1200" dirty="0"/>
              <a:t>   │</a:t>
            </a:r>
          </a:p>
          <a:p>
            <a:pPr algn="ctr"/>
            <a:r>
              <a:rPr lang="en-IN" sz="1200" dirty="0"/>
              <a:t>   ▼</a:t>
            </a:r>
          </a:p>
          <a:p>
            <a:pPr algn="ctr"/>
            <a:r>
              <a:rPr lang="en-IN" sz="1200" dirty="0"/>
              <a:t> Applying SMOTE</a:t>
            </a:r>
          </a:p>
          <a:p>
            <a:pPr algn="ctr"/>
            <a:r>
              <a:rPr lang="en-IN" sz="1200" dirty="0"/>
              <a:t>  │</a:t>
            </a:r>
          </a:p>
          <a:p>
            <a:pPr algn="ctr"/>
            <a:r>
              <a:rPr lang="en-IN" sz="1200" dirty="0"/>
              <a:t>  ▼</a:t>
            </a:r>
          </a:p>
          <a:p>
            <a:pPr algn="ctr"/>
            <a:r>
              <a:rPr lang="en-IN" sz="1200" dirty="0"/>
              <a:t>   ┌────────────┴────────────┐</a:t>
            </a:r>
          </a:p>
          <a:p>
            <a:pPr algn="ctr"/>
            <a:r>
              <a:rPr lang="en-IN" sz="1200" dirty="0"/>
              <a:t>    ▼                                                               ▼</a:t>
            </a:r>
          </a:p>
          <a:p>
            <a:pPr algn="ctr"/>
            <a:r>
              <a:rPr lang="en-IN" sz="1200" dirty="0"/>
              <a:t> Receiver Familiarity Score       </a:t>
            </a:r>
            <a:r>
              <a:rPr lang="en-IN" sz="1200" dirty="0" err="1"/>
              <a:t>Behavior</a:t>
            </a:r>
            <a:r>
              <a:rPr lang="en-IN" sz="1200" dirty="0"/>
              <a:t> Consistency Score</a:t>
            </a:r>
          </a:p>
          <a:p>
            <a:pPr algn="ctr"/>
            <a:r>
              <a:rPr lang="en-IN" sz="1200" dirty="0"/>
              <a:t>  (RFS)                                             (BCS)                                                           </a:t>
            </a:r>
          </a:p>
          <a:p>
            <a:pPr algn="ctr"/>
            <a:r>
              <a:rPr lang="en-IN" sz="1200" dirty="0"/>
              <a:t>  |_____________________________|</a:t>
            </a:r>
          </a:p>
          <a:p>
            <a:pPr algn="ctr"/>
            <a:r>
              <a:rPr lang="en-IN" sz="1200" dirty="0"/>
              <a:t>|  </a:t>
            </a:r>
          </a:p>
          <a:p>
            <a:pPr algn="ctr"/>
            <a:r>
              <a:rPr lang="en-IN" sz="1200" dirty="0"/>
              <a:t>▼</a:t>
            </a:r>
          </a:p>
          <a:p>
            <a:pPr algn="ctr"/>
            <a:r>
              <a:rPr lang="en-IN" sz="1200" dirty="0"/>
              <a:t>Enhanced Feature Set</a:t>
            </a:r>
          </a:p>
          <a:p>
            <a:pPr algn="ctr"/>
            <a:r>
              <a:rPr lang="en-IN" sz="1200" dirty="0"/>
              <a:t> │</a:t>
            </a:r>
          </a:p>
          <a:p>
            <a:pPr algn="ctr"/>
            <a:r>
              <a:rPr lang="en-IN" sz="1200" dirty="0"/>
              <a:t> ▼</a:t>
            </a:r>
          </a:p>
          <a:p>
            <a:pPr algn="ctr"/>
            <a:r>
              <a:rPr lang="en-IN" sz="1200" dirty="0"/>
              <a:t>  </a:t>
            </a:r>
            <a:r>
              <a:rPr lang="en-IN" sz="1200" dirty="0" err="1"/>
              <a:t>XGBoost</a:t>
            </a:r>
            <a:r>
              <a:rPr lang="en-IN" sz="1200" dirty="0"/>
              <a:t> Classifier</a:t>
            </a:r>
          </a:p>
          <a:p>
            <a:pPr algn="ctr"/>
            <a:r>
              <a:rPr lang="en-IN" sz="1200" dirty="0"/>
              <a:t>  │</a:t>
            </a:r>
          </a:p>
          <a:p>
            <a:pPr algn="ctr"/>
            <a:r>
              <a:rPr lang="en-IN" sz="1200" dirty="0"/>
              <a:t>  ▼</a:t>
            </a:r>
          </a:p>
          <a:p>
            <a:pPr algn="ctr"/>
            <a:r>
              <a:rPr lang="en-IN" sz="1200" dirty="0"/>
              <a:t>      Fraud Prediction</a:t>
            </a:r>
          </a:p>
          <a:p>
            <a:pPr algn="ctr"/>
            <a:r>
              <a:rPr lang="en-IN" sz="1200" dirty="0"/>
              <a:t>       (Genuine / Suspicious Transaction)</a:t>
            </a:r>
          </a:p>
          <a:p>
            <a:pPr algn="ctr"/>
            <a:r>
              <a:rPr lang="en-IN" sz="1200" dirty="0"/>
              <a:t>  │</a:t>
            </a:r>
          </a:p>
          <a:p>
            <a:pPr algn="ctr"/>
            <a:r>
              <a:rPr lang="en-IN" sz="1200" dirty="0"/>
              <a:t>  ▼</a:t>
            </a:r>
          </a:p>
          <a:p>
            <a:pPr algn="ctr"/>
            <a:r>
              <a:rPr lang="en-IN" sz="1200" dirty="0"/>
              <a:t>Performance Evaluation</a:t>
            </a:r>
          </a:p>
          <a:p>
            <a:pPr algn="ctr"/>
            <a:r>
              <a:rPr lang="en-IN" sz="1200" dirty="0"/>
              <a:t>      Accuracy • Precision • Recall • F1-score</a:t>
            </a:r>
          </a:p>
        </p:txBody>
      </p:sp>
    </p:spTree>
    <p:extLst>
      <p:ext uri="{BB962C8B-B14F-4D97-AF65-F5344CB8AC3E}">
        <p14:creationId xmlns:p14="http://schemas.microsoft.com/office/powerpoint/2010/main" val="1444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D51D-EB9E-2AB8-2777-F4D62590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04800"/>
            <a:ext cx="7467599" cy="430887"/>
          </a:xfrm>
        </p:spPr>
        <p:txBody>
          <a:bodyPr/>
          <a:lstStyle/>
          <a:p>
            <a:pPr algn="l"/>
            <a:r>
              <a:rPr lang="en-IN" sz="2800" dirty="0"/>
              <a:t>Proposed Work with Planned 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4341E-F14A-98E4-E916-DDF447670647}"/>
              </a:ext>
            </a:extLst>
          </p:cNvPr>
          <p:cNvSpPr txBox="1"/>
          <p:nvPr/>
        </p:nvSpPr>
        <p:spPr>
          <a:xfrm rot="10800000" flipH="1" flipV="1">
            <a:off x="1181100" y="1122163"/>
            <a:ext cx="67818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Existing System</a:t>
            </a:r>
          </a:p>
          <a:p>
            <a:endParaRPr lang="en-IN" sz="17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Uses transaction amount, balance and transaction 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Detects fraud using machine learning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Does not consider customer </a:t>
            </a:r>
            <a:r>
              <a:rPr lang="en-IN" sz="1700" dirty="0" err="1"/>
              <a:t>behavioral</a:t>
            </a:r>
            <a:r>
              <a:rPr lang="en-IN" sz="1700" dirty="0"/>
              <a:t> relationships.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High accuracy but lower fraud recall due to data imbalance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816AE-3EB0-580F-59D6-358A6E9EC951}"/>
              </a:ext>
            </a:extLst>
          </p:cNvPr>
          <p:cNvSpPr txBox="1"/>
          <p:nvPr/>
        </p:nvSpPr>
        <p:spPr>
          <a:xfrm>
            <a:off x="1206500" y="2895600"/>
            <a:ext cx="6851556" cy="4001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700" b="1" dirty="0"/>
              <a:t>Proposed Innovation</a:t>
            </a:r>
          </a:p>
          <a:p>
            <a:endParaRPr lang="en-IN" sz="1700" b="1" dirty="0"/>
          </a:p>
          <a:p>
            <a:r>
              <a:rPr lang="en-IN" sz="1700" b="1" dirty="0"/>
              <a:t> Receiver Familiarity Score (RFS)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Measures the familiarity between sender and receiver.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Assigns higher risk to new or rarely contacted receivers.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Reduces false positives for trusted receivers. </a:t>
            </a:r>
            <a:br>
              <a:rPr lang="en-IN" sz="1700" dirty="0"/>
            </a:br>
            <a:endParaRPr lang="en-IN" sz="1700" dirty="0"/>
          </a:p>
          <a:p>
            <a:r>
              <a:rPr lang="en-IN" sz="1700" b="1" dirty="0"/>
              <a:t> </a:t>
            </a:r>
            <a:r>
              <a:rPr lang="en-IN" sz="1700" b="1" dirty="0" err="1"/>
              <a:t>Behavior</a:t>
            </a:r>
            <a:r>
              <a:rPr lang="en-IN" sz="1700" b="1" dirty="0"/>
              <a:t> Consistency Score (BCS)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Compares current transaction with customer's historical </a:t>
            </a:r>
            <a:r>
              <a:rPr lang="en-IN" sz="1700" dirty="0" err="1"/>
              <a:t>behavior</a:t>
            </a:r>
            <a:r>
              <a:rPr lang="en-IN" sz="17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Considers: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700" dirty="0"/>
              <a:t>Transaction Amount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700" dirty="0"/>
              <a:t>Transaction Type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700" dirty="0"/>
              <a:t>Transaction Time (Step)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Detects abnormal customer behaviour.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41090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8ED0-0ABD-4FE8-B9E6-76A01E47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E9D1-00EF-5A47-AAF5-4AA5DE1E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28600"/>
            <a:ext cx="4152900" cy="984885"/>
          </a:xfrm>
        </p:spPr>
        <p:txBody>
          <a:bodyPr/>
          <a:lstStyle/>
          <a:p>
            <a:r>
              <a:rPr lang="en-IN" dirty="0"/>
              <a:t>Baseline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D7CD3F-BDA7-AE60-FA06-2512FBA96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04812"/>
              </p:ext>
            </p:extLst>
          </p:nvPr>
        </p:nvGraphicFramePr>
        <p:xfrm>
          <a:off x="762000" y="1066800"/>
          <a:ext cx="8229600" cy="518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96310162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1052451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40316178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79411138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Evaluation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 1: Baseline (No SMOTE)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 2: Baseline + SMOTE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 3: Proposed Model (SMOTE + RFS + BCS)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62256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Test 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1,272,524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1,272,524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1,272,524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802984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99.96%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900415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Fraud Recall (Caught)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78.64% (1,292 / 1,643)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351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98.72% (1,622 / 1,643)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21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98.11% (1,612 / 1,643) </a:t>
                      </a:r>
                      <a:r>
                        <a:rPr lang="en-IN" dirty="0">
                          <a:sym typeface="Wingdings" panose="05000000000000000000" pitchFamily="2" charset="2"/>
                        </a:rPr>
                        <a:t> 31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47769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False Positives (False Alarms)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1,445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1,282 (163 false alarms eliminated)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02479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52.89%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55.70%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526268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68.87%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71.06%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7376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48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F72C2-06A7-9CBF-AC8C-80F6DD3A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83B3-8C94-1D67-88DB-ACFCBCB0C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205799"/>
            <a:ext cx="3619500" cy="632401"/>
          </a:xfrm>
        </p:spPr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55B66-E435-7B5A-961E-963A4893314F}"/>
              </a:ext>
            </a:extLst>
          </p:cNvPr>
          <p:cNvSpPr txBox="1"/>
          <p:nvPr/>
        </p:nvSpPr>
        <p:spPr>
          <a:xfrm>
            <a:off x="1219200" y="1066800"/>
            <a:ext cx="7467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900" b="1" dirty="0"/>
              <a:t>Dataset Name</a:t>
            </a:r>
            <a:r>
              <a:rPr lang="en-IN" sz="1900" dirty="0"/>
              <a:t>: </a:t>
            </a:r>
            <a:r>
              <a:rPr lang="en-IN" sz="1900" dirty="0" err="1"/>
              <a:t>PaySim</a:t>
            </a:r>
            <a:r>
              <a:rPr lang="en-IN" sz="1900" dirty="0"/>
              <a:t> Dataset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Domain</a:t>
            </a:r>
            <a:r>
              <a:rPr lang="en-IN" sz="1900" dirty="0"/>
              <a:t>: Banking and financial transaction fraud detection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Total Transactions</a:t>
            </a:r>
            <a:r>
              <a:rPr lang="en-IN" sz="1900" dirty="0"/>
              <a:t>: </a:t>
            </a:r>
            <a:r>
              <a:rPr lang="en-IN" dirty="0"/>
              <a:t>6,362,620</a:t>
            </a:r>
          </a:p>
          <a:p>
            <a:pPr lvl="0"/>
            <a:r>
              <a:rPr lang="en-IN" sz="1900" b="1" dirty="0"/>
              <a:t>Fraudulent Transactions</a:t>
            </a:r>
            <a:r>
              <a:rPr lang="en-IN" sz="1900" dirty="0"/>
              <a:t>: </a:t>
            </a:r>
            <a:r>
              <a:rPr lang="en-IN" dirty="0"/>
              <a:t>8,213 (0.13%)</a:t>
            </a:r>
          </a:p>
          <a:p>
            <a:pPr lvl="0"/>
            <a:r>
              <a:rPr lang="en-IN" sz="1900" b="1" dirty="0"/>
              <a:t>Genuine Transactions</a:t>
            </a:r>
            <a:r>
              <a:rPr lang="en-IN" sz="1900" dirty="0"/>
              <a:t>: </a:t>
            </a:r>
            <a:r>
              <a:rPr lang="en-IN" dirty="0"/>
              <a:t>6,354,407 (99.87%)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Transaction Types</a:t>
            </a:r>
            <a:r>
              <a:rPr lang="en-IN" dirty="0"/>
              <a:t>: CASH_IN, CASH_OUT, DEBIT, PAYMENT, TRANSFER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Key Features</a:t>
            </a:r>
            <a:r>
              <a:rPr lang="en-IN" sz="1900" dirty="0"/>
              <a:t>: </a:t>
            </a:r>
            <a:r>
              <a:rPr lang="en-IN" dirty="0"/>
              <a:t>Transaction step/time, amount, account balances, sender and receiver IDs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Target Variable</a:t>
            </a:r>
            <a:r>
              <a:rPr lang="en-IN" sz="1900" dirty="0"/>
              <a:t>: </a:t>
            </a:r>
            <a:r>
              <a:rPr lang="en-IN" sz="1900" dirty="0" err="1"/>
              <a:t>isFraud</a:t>
            </a:r>
            <a:endParaRPr lang="en-IN" sz="1900" dirty="0"/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Purpose</a:t>
            </a:r>
            <a:r>
              <a:rPr lang="en-IN" sz="1900" dirty="0"/>
              <a:t>: </a:t>
            </a:r>
            <a:r>
              <a:rPr lang="en-IN" dirty="0"/>
              <a:t>Used to train and evaluate the proposed suspicious transaction detection model</a:t>
            </a:r>
          </a:p>
        </p:txBody>
      </p:sp>
    </p:spTree>
    <p:extLst>
      <p:ext uri="{BB962C8B-B14F-4D97-AF65-F5344CB8AC3E}">
        <p14:creationId xmlns:p14="http://schemas.microsoft.com/office/powerpoint/2010/main" val="3224713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12EB-97C5-CBB5-D4FF-457C8B61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D009-B32A-8D0E-4284-C72A679FE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0" y="290243"/>
            <a:ext cx="3619500" cy="492443"/>
          </a:xfrm>
        </p:spPr>
        <p:txBody>
          <a:bodyPr/>
          <a:lstStyle/>
          <a:p>
            <a:r>
              <a:rPr lang="en-IN" dirty="0"/>
              <a:t>SDG Goals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9BFF9-2E9A-E2BA-5686-FE6151304C9D}"/>
              </a:ext>
            </a:extLst>
          </p:cNvPr>
          <p:cNvSpPr txBox="1"/>
          <p:nvPr/>
        </p:nvSpPr>
        <p:spPr>
          <a:xfrm>
            <a:off x="1066800" y="1371600"/>
            <a:ext cx="769620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900" b="1" dirty="0"/>
              <a:t>Primary SDG </a:t>
            </a:r>
            <a:r>
              <a:rPr lang="en-IN" sz="1900" dirty="0"/>
              <a:t>: Goal 9 — Industry, Innovation, and Infrastructure</a:t>
            </a:r>
          </a:p>
          <a:p>
            <a:pPr lvl="0"/>
            <a:r>
              <a:rPr lang="en-IN" sz="1900" dirty="0"/>
              <a:t> </a:t>
            </a:r>
          </a:p>
          <a:p>
            <a:pPr lvl="0"/>
            <a:r>
              <a:rPr lang="en-IN" sz="1900" b="1" dirty="0"/>
              <a:t>Secondary SDG </a:t>
            </a:r>
            <a:r>
              <a:rPr lang="en-IN" sz="1900" dirty="0"/>
              <a:t>: Goal 8 – Decent work and Economic Growth 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Technological Innovation</a:t>
            </a:r>
            <a:r>
              <a:rPr lang="en-IN" sz="1900" dirty="0"/>
              <a:t>: Leverages advanced machine learning (</a:t>
            </a:r>
            <a:r>
              <a:rPr lang="en-IN" sz="1900" dirty="0" err="1"/>
              <a:t>XGBoost</a:t>
            </a:r>
            <a:r>
              <a:rPr lang="en-IN" sz="1900" dirty="0"/>
              <a:t> + SMOTE) paired with novel </a:t>
            </a:r>
            <a:r>
              <a:rPr lang="en-IN" sz="1900" dirty="0" err="1"/>
              <a:t>behavioral</a:t>
            </a:r>
            <a:r>
              <a:rPr lang="en-IN" sz="1900" dirty="0"/>
              <a:t> features (RFS &amp; BCS) to modernize financial security.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Resilient Financial Infrastructure</a:t>
            </a:r>
            <a:r>
              <a:rPr lang="en-IN" sz="1900" dirty="0"/>
              <a:t>: Protects digital banking and mobile money platforms against sophisticated cyber fraud and unauthorized fund drains.</a:t>
            </a:r>
          </a:p>
          <a:p>
            <a:pPr lvl="0"/>
            <a:endParaRPr lang="en-IN" sz="1900" dirty="0"/>
          </a:p>
          <a:p>
            <a:pPr lvl="0"/>
            <a:r>
              <a:rPr lang="en-IN" sz="1900" b="1" dirty="0"/>
              <a:t>Socio-Economic Impact</a:t>
            </a:r>
            <a:r>
              <a:rPr lang="en-IN" sz="1900" dirty="0"/>
              <a:t>: Safeguards customer assets, reduces manual audit overhead, and cuts false alarms by 58.2% to ensure seamless, trusted digital banking ecosystems</a:t>
            </a:r>
          </a:p>
        </p:txBody>
      </p:sp>
    </p:spTree>
    <p:extLst>
      <p:ext uri="{BB962C8B-B14F-4D97-AF65-F5344CB8AC3E}">
        <p14:creationId xmlns:p14="http://schemas.microsoft.com/office/powerpoint/2010/main" val="41191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A0AD-778F-DB69-2E4B-2F9B8D57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4800"/>
            <a:ext cx="4691380" cy="369332"/>
          </a:xfrm>
        </p:spPr>
        <p:txBody>
          <a:bodyPr/>
          <a:lstStyle/>
          <a:p>
            <a:pPr algn="ctr"/>
            <a:r>
              <a:rPr lang="en-IN" sz="2400" dirty="0"/>
              <a:t>Modules of the Proposed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36792-C676-5388-A045-51E19877E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80" y="76200"/>
            <a:ext cx="2607733" cy="6705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5CD19-AE47-1B12-4367-4F477EF0A479}"/>
              </a:ext>
            </a:extLst>
          </p:cNvPr>
          <p:cNvSpPr txBox="1"/>
          <p:nvPr/>
        </p:nvSpPr>
        <p:spPr>
          <a:xfrm>
            <a:off x="762000" y="914400"/>
            <a:ext cx="2895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Module 1 – Data Acquisition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Load </a:t>
            </a:r>
            <a:r>
              <a:rPr lang="en-IN" sz="1600" dirty="0" err="1"/>
              <a:t>PaySim</a:t>
            </a:r>
            <a:r>
              <a:rPr lang="en-IN" sz="1600" dirty="0"/>
              <a:t> transaction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Understand transaction attributes 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Module 2 – Data Preprocessing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Handle missing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One-Hot Encoding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Train-Test Split </a:t>
            </a:r>
          </a:p>
          <a:p>
            <a:endParaRPr lang="en-IN" sz="1600" dirty="0"/>
          </a:p>
          <a:p>
            <a:r>
              <a:rPr lang="en-IN" sz="1600" b="1" dirty="0"/>
              <a:t>Module 3 – Baseline Fraud Detection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Train </a:t>
            </a:r>
            <a:r>
              <a:rPr lang="en-IN" sz="1600" dirty="0" err="1"/>
              <a:t>XGBoost</a:t>
            </a:r>
            <a:r>
              <a:rPr lang="en-IN" sz="1600" dirty="0"/>
              <a:t> classifier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Predict fraudulent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Evaluate using Accuracy, Precision, Recall, F1-score, and Confusion Matrix</a:t>
            </a:r>
          </a:p>
          <a:p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7C0DF-2616-6A6B-DDD3-96DA2C0BE5AC}"/>
              </a:ext>
            </a:extLst>
          </p:cNvPr>
          <p:cNvSpPr txBox="1"/>
          <p:nvPr/>
        </p:nvSpPr>
        <p:spPr>
          <a:xfrm>
            <a:off x="3886200" y="914400"/>
            <a:ext cx="2590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Module 4 – Feature Engineering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Compute Receiver Familiarity Score (RFS)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Compute </a:t>
            </a:r>
            <a:r>
              <a:rPr lang="en-IN" sz="1600" dirty="0" err="1"/>
              <a:t>Behavior</a:t>
            </a:r>
            <a:r>
              <a:rPr lang="en-IN" sz="1600" dirty="0"/>
              <a:t> Consistency Score (BCS)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 enhanced </a:t>
            </a:r>
            <a:r>
              <a:rPr lang="en-IN" sz="1600" dirty="0" err="1"/>
              <a:t>behavioral</a:t>
            </a:r>
            <a:r>
              <a:rPr lang="en-IN" sz="1600" dirty="0"/>
              <a:t> features 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Module 5 – Enhanced Fraud Detection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Combine existing transaction features with RFS &amp; BCS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Train Enhanced </a:t>
            </a:r>
            <a:r>
              <a:rPr lang="en-IN" sz="1600" dirty="0" err="1"/>
              <a:t>XGBoost</a:t>
            </a:r>
            <a:r>
              <a:rPr lang="en-IN" sz="1600" dirty="0"/>
              <a:t>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Compare baseline and proposed model performance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52246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8194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 </a:t>
            </a:r>
            <a:r>
              <a:rPr lang="en-IN" sz="4800" b="1" dirty="0"/>
              <a:t>Thank You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727239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2688</TotalTime>
  <Words>941</Words>
  <Application>Microsoft Office PowerPoint</Application>
  <PresentationFormat>On-screen Show (4:3)</PresentationFormat>
  <Paragraphs>183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MT</vt:lpstr>
      <vt:lpstr>Calibri</vt:lpstr>
      <vt:lpstr>Google Sans Text</vt:lpstr>
      <vt:lpstr>Times New Roman</vt:lpstr>
      <vt:lpstr>Wingdings</vt:lpstr>
      <vt:lpstr>Office Theme</vt:lpstr>
      <vt:lpstr>PowerPoint Presentation</vt:lpstr>
      <vt:lpstr>PROBLEM STATEMENT</vt:lpstr>
      <vt:lpstr>Literature Survey </vt:lpstr>
      <vt:lpstr>Research Gap</vt:lpstr>
      <vt:lpstr>System Architecture</vt:lpstr>
      <vt:lpstr>Proposed Work with Planned Innovation</vt:lpstr>
      <vt:lpstr>Baseline Comparison</vt:lpstr>
      <vt:lpstr>Dataset Description</vt:lpstr>
      <vt:lpstr>SDG Goals</vt:lpstr>
      <vt:lpstr>Modules of the Proposed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Sanjay Kumar</cp:lastModifiedBy>
  <cp:revision>35</cp:revision>
  <dcterms:created xsi:type="dcterms:W3CDTF">2026-04-28T09:54:59Z</dcterms:created>
  <dcterms:modified xsi:type="dcterms:W3CDTF">2026-10-10T04:12:29Z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2025-05-21T00:00:00Z</vt:filetime>
  </property>
  <property fmtid="{D5CDD505-2E9C-101B-9397-08002B2CF9AE}" pid="4" name="LastSaved">
    <vt:filetime>2026-04-28T00:00:00Z</vt:filetime>
  </property>
</Properties>
</file>